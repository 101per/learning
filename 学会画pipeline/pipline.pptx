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7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AA79"/>
    <a:srgbClr val="ECA37B"/>
    <a:srgbClr val="60638D"/>
    <a:srgbClr val="4D4C6F"/>
    <a:srgbClr val="623A5B"/>
    <a:srgbClr val="783D57"/>
    <a:srgbClr val="CCA4AE"/>
    <a:srgbClr val="E2C1C5"/>
    <a:srgbClr val="F3E2E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78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6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>
          <a:xfrm>
            <a:off x="5475605" y="139065"/>
            <a:ext cx="2843530" cy="13639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327910" y="3663950"/>
            <a:ext cx="1635760" cy="125666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4428490" y="2632075"/>
            <a:ext cx="5257165" cy="187579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0505" y="1607185"/>
            <a:ext cx="1410335" cy="687070"/>
          </a:xfrm>
          <a:prstGeom prst="rect">
            <a:avLst/>
          </a:prstGeom>
        </p:spPr>
      </p:pic>
      <p:pic>
        <p:nvPicPr>
          <p:cNvPr id="20" name="图片 19" descr="34c66988-7735-4cb1-8ddf-56d4e4dec0c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7610" y="5011420"/>
            <a:ext cx="1380490" cy="92075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 rot="0">
            <a:off x="4907915" y="3931920"/>
            <a:ext cx="1800225" cy="354330"/>
            <a:chOff x="7085" y="1657"/>
            <a:chExt cx="7622" cy="1902"/>
          </a:xfrm>
        </p:grpSpPr>
        <p:sp>
          <p:nvSpPr>
            <p:cNvPr id="21" name="流程图: 终止 20"/>
            <p:cNvSpPr/>
            <p:nvPr/>
          </p:nvSpPr>
          <p:spPr>
            <a:xfrm rot="5400000">
              <a:off x="12487" y="2186"/>
              <a:ext cx="1900" cy="847"/>
            </a:xfrm>
            <a:prstGeom prst="flowChartTerminator">
              <a:avLst/>
            </a:prstGeom>
            <a:solidFill>
              <a:srgbClr val="F19B7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流程图: 终止 21"/>
            <p:cNvSpPr/>
            <p:nvPr/>
          </p:nvSpPr>
          <p:spPr>
            <a:xfrm rot="5400000">
              <a:off x="11640" y="2186"/>
              <a:ext cx="1900" cy="847"/>
            </a:xfrm>
            <a:prstGeom prst="flowChartTerminator">
              <a:avLst/>
            </a:prstGeom>
            <a:solidFill>
              <a:srgbClr val="3F3C4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流程图: 终止 22"/>
            <p:cNvSpPr/>
            <p:nvPr/>
          </p:nvSpPr>
          <p:spPr>
            <a:xfrm rot="5400000">
              <a:off x="13335" y="2186"/>
              <a:ext cx="1899" cy="847"/>
            </a:xfrm>
            <a:prstGeom prst="flowChartTerminator">
              <a:avLst/>
            </a:prstGeom>
            <a:solidFill>
              <a:srgbClr val="F19B7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流程图: 终止 23"/>
            <p:cNvSpPr/>
            <p:nvPr/>
          </p:nvSpPr>
          <p:spPr>
            <a:xfrm rot="5400000">
              <a:off x="7405" y="2184"/>
              <a:ext cx="1900" cy="847"/>
            </a:xfrm>
            <a:prstGeom prst="flowChartTerminator">
              <a:avLst/>
            </a:prstGeom>
            <a:solidFill>
              <a:srgbClr val="CCA2A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流程图: 终止 24"/>
            <p:cNvSpPr/>
            <p:nvPr/>
          </p:nvSpPr>
          <p:spPr>
            <a:xfrm rot="5400000">
              <a:off x="6558" y="2184"/>
              <a:ext cx="1900" cy="847"/>
            </a:xfrm>
            <a:prstGeom prst="flowChartTerminator">
              <a:avLst/>
            </a:prstGeom>
            <a:solidFill>
              <a:srgbClr val="FDE1E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流程图: 终止 25"/>
            <p:cNvSpPr/>
            <p:nvPr/>
          </p:nvSpPr>
          <p:spPr>
            <a:xfrm rot="5400000">
              <a:off x="8253" y="2184"/>
              <a:ext cx="1899" cy="847"/>
            </a:xfrm>
            <a:prstGeom prst="flowChartTerminator">
              <a:avLst/>
            </a:prstGeom>
            <a:solidFill>
              <a:srgbClr val="CCA2A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流程图: 终止 26"/>
            <p:cNvSpPr/>
            <p:nvPr/>
          </p:nvSpPr>
          <p:spPr>
            <a:xfrm rot="5400000">
              <a:off x="10765" y="2184"/>
              <a:ext cx="1900" cy="847"/>
            </a:xfrm>
            <a:prstGeom prst="flowChartTerminator">
              <a:avLst/>
            </a:prstGeom>
            <a:solidFill>
              <a:srgbClr val="3F3C4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流程图: 终止 27"/>
            <p:cNvSpPr/>
            <p:nvPr/>
          </p:nvSpPr>
          <p:spPr>
            <a:xfrm rot="5400000">
              <a:off x="9946" y="2186"/>
              <a:ext cx="1900" cy="847"/>
            </a:xfrm>
            <a:prstGeom prst="flowChartTerminator">
              <a:avLst/>
            </a:prstGeom>
            <a:solidFill>
              <a:srgbClr val="5F324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流程图: 终止 28"/>
            <p:cNvSpPr/>
            <p:nvPr/>
          </p:nvSpPr>
          <p:spPr>
            <a:xfrm rot="5400000">
              <a:off x="9086" y="2184"/>
              <a:ext cx="1899" cy="847"/>
            </a:xfrm>
            <a:prstGeom prst="flowChartTerminator">
              <a:avLst/>
            </a:prstGeom>
            <a:solidFill>
              <a:srgbClr val="5F324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 rot="0">
            <a:off x="7181215" y="3242945"/>
            <a:ext cx="2267585" cy="975360"/>
            <a:chOff x="5461" y="5107"/>
            <a:chExt cx="3571" cy="1536"/>
          </a:xfrm>
        </p:grpSpPr>
        <p:pic>
          <p:nvPicPr>
            <p:cNvPr id="116" name="图片 115" descr="206f2950-eea1-4053-b849-4073d4276a48"/>
            <p:cNvPicPr>
              <a:picLocks noChangeAspect="1"/>
            </p:cNvPicPr>
            <p:nvPr/>
          </p:nvPicPr>
          <p:blipFill>
            <a:blip r:embed="rId3"/>
            <a:srcRect l="9547" t="9780" r="10453" b="6112"/>
            <a:stretch>
              <a:fillRect/>
            </a:stretch>
          </p:blipFill>
          <p:spPr>
            <a:xfrm>
              <a:off x="5461" y="5212"/>
              <a:ext cx="1324" cy="1376"/>
            </a:xfrm>
            <a:prstGeom prst="rect">
              <a:avLst/>
            </a:prstGeom>
          </p:spPr>
        </p:pic>
        <p:pic>
          <p:nvPicPr>
            <p:cNvPr id="34" name="图片 33" descr="10787455904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972" y="5686"/>
              <a:ext cx="369" cy="369"/>
            </a:xfrm>
            <a:prstGeom prst="rect">
              <a:avLst/>
            </a:prstGeom>
          </p:spPr>
        </p:pic>
        <p:pic>
          <p:nvPicPr>
            <p:cNvPr id="36" name="图片 35" descr="879507dd-d8eb-49c0-b7b7-128a8b3fe34f"/>
            <p:cNvPicPr>
              <a:picLocks noChangeAspect="1"/>
            </p:cNvPicPr>
            <p:nvPr/>
          </p:nvPicPr>
          <p:blipFill>
            <a:blip r:embed="rId6"/>
            <a:srcRect l="9973" t="10667" r="9760" b="7413"/>
            <a:stretch>
              <a:fillRect/>
            </a:stretch>
          </p:blipFill>
          <p:spPr>
            <a:xfrm>
              <a:off x="7528" y="5107"/>
              <a:ext cx="1505" cy="1536"/>
            </a:xfrm>
            <a:prstGeom prst="rect">
              <a:avLst/>
            </a:prstGeom>
          </p:spPr>
        </p:pic>
      </p:grpSp>
      <p:cxnSp>
        <p:nvCxnSpPr>
          <p:cNvPr id="39" name="肘形连接符 38"/>
          <p:cNvCxnSpPr>
            <a:stCxn id="116" idx="2"/>
            <a:endCxn id="36" idx="2"/>
          </p:cNvCxnSpPr>
          <p:nvPr/>
        </p:nvCxnSpPr>
        <p:spPr>
          <a:xfrm rot="5400000" flipV="1">
            <a:off x="8263890" y="3515995"/>
            <a:ext cx="34925" cy="1370330"/>
          </a:xfrm>
          <a:prstGeom prst="bentConnector3">
            <a:avLst>
              <a:gd name="adj1" fmla="val 780909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7602220" y="4238625"/>
            <a:ext cx="1309370" cy="208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/>
              <a:t>Deformable Patch Shift</a:t>
            </a:r>
            <a:endParaRPr lang="zh-CN" altLang="en-US" sz="800"/>
          </a:p>
        </p:txBody>
      </p:sp>
      <p:cxnSp>
        <p:nvCxnSpPr>
          <p:cNvPr id="46" name="直接连接符 45"/>
          <p:cNvCxnSpPr/>
          <p:nvPr/>
        </p:nvCxnSpPr>
        <p:spPr>
          <a:xfrm flipV="1">
            <a:off x="7601585" y="3098165"/>
            <a:ext cx="631825" cy="2114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H="1" flipV="1">
            <a:off x="8227060" y="3098165"/>
            <a:ext cx="744855" cy="144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肘形连接符 43"/>
          <p:cNvCxnSpPr/>
          <p:nvPr/>
        </p:nvCxnSpPr>
        <p:spPr>
          <a:xfrm rot="10800000">
            <a:off x="6771640" y="2881630"/>
            <a:ext cx="1449070" cy="217170"/>
          </a:xfrm>
          <a:prstGeom prst="bentConnector3">
            <a:avLst>
              <a:gd name="adj1" fmla="val 394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5365115" y="3028950"/>
            <a:ext cx="134302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refined tokens</a:t>
            </a:r>
            <a:endParaRPr lang="en-US" altLang="zh-CN" sz="800"/>
          </a:p>
        </p:txBody>
      </p:sp>
      <p:sp>
        <p:nvSpPr>
          <p:cNvPr id="53" name="文本框 52"/>
          <p:cNvSpPr txBox="1"/>
          <p:nvPr/>
        </p:nvSpPr>
        <p:spPr>
          <a:xfrm>
            <a:off x="4930775" y="3428365"/>
            <a:ext cx="177863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/>
              <a:t>tokens-&gt;patchmap-&gt;offset conv</a:t>
            </a:r>
            <a:r>
              <a:rPr lang="en-US" altLang="zh-CN"/>
              <a:t> </a:t>
            </a:r>
            <a:endParaRPr lang="en-US" altLang="zh-CN"/>
          </a:p>
        </p:txBody>
      </p:sp>
      <p:cxnSp>
        <p:nvCxnSpPr>
          <p:cNvPr id="54" name="肘形连接符 53"/>
          <p:cNvCxnSpPr>
            <a:stCxn id="25" idx="2"/>
            <a:endCxn id="116" idx="1"/>
          </p:cNvCxnSpPr>
          <p:nvPr/>
        </p:nvCxnSpPr>
        <p:spPr>
          <a:xfrm rot="10800000" flipH="1">
            <a:off x="4902200" y="3746500"/>
            <a:ext cx="2273300" cy="362585"/>
          </a:xfrm>
          <a:prstGeom prst="bentConnector5">
            <a:avLst>
              <a:gd name="adj1" fmla="val -10475"/>
              <a:gd name="adj2" fmla="val 49912"/>
              <a:gd name="adj3" fmla="val -1053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20" idx="1"/>
          </p:cNvCxnSpPr>
          <p:nvPr/>
        </p:nvCxnSpPr>
        <p:spPr>
          <a:xfrm flipH="1">
            <a:off x="9714230" y="5471795"/>
            <a:ext cx="37338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肘形连接符 58"/>
          <p:cNvCxnSpPr/>
          <p:nvPr/>
        </p:nvCxnSpPr>
        <p:spPr>
          <a:xfrm rot="16200000" flipV="1">
            <a:off x="2821305" y="4954270"/>
            <a:ext cx="1638935" cy="1010285"/>
          </a:xfrm>
          <a:prstGeom prst="bentConnector3">
            <a:avLst>
              <a:gd name="adj1" fmla="val -387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圆角矩形 60"/>
          <p:cNvSpPr/>
          <p:nvPr/>
        </p:nvSpPr>
        <p:spPr>
          <a:xfrm>
            <a:off x="2581910" y="3867150"/>
            <a:ext cx="1127760" cy="77724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color branch</a:t>
            </a:r>
            <a:endParaRPr lang="en-US" altLang="zh-CN" sz="1200">
              <a:solidFill>
                <a:schemeClr val="tx1"/>
              </a:solidFill>
            </a:endParaRPr>
          </a:p>
        </p:txBody>
      </p:sp>
      <p:pic>
        <p:nvPicPr>
          <p:cNvPr id="65" name="图片 64" descr="image-20260419185209720"/>
          <p:cNvPicPr>
            <a:picLocks noChangeAspect="1"/>
          </p:cNvPicPr>
          <p:nvPr/>
        </p:nvPicPr>
        <p:blipFill>
          <a:blip r:embed="rId7"/>
          <a:srcRect t="3428" b="1648"/>
          <a:stretch>
            <a:fillRect/>
          </a:stretch>
        </p:blipFill>
        <p:spPr>
          <a:xfrm>
            <a:off x="4104005" y="4589780"/>
            <a:ext cx="5610225" cy="2268220"/>
          </a:xfrm>
          <a:prstGeom prst="rect">
            <a:avLst/>
          </a:prstGeom>
        </p:spPr>
      </p:pic>
      <p:grpSp>
        <p:nvGrpSpPr>
          <p:cNvPr id="85" name="组合 84"/>
          <p:cNvGrpSpPr/>
          <p:nvPr/>
        </p:nvGrpSpPr>
        <p:grpSpPr>
          <a:xfrm rot="0">
            <a:off x="4700905" y="1891030"/>
            <a:ext cx="1024890" cy="194945"/>
            <a:chOff x="3593" y="4430"/>
            <a:chExt cx="2834" cy="557"/>
          </a:xfrm>
        </p:grpSpPr>
        <p:sp>
          <p:nvSpPr>
            <p:cNvPr id="71" name="流程图: 终止 70"/>
            <p:cNvSpPr/>
            <p:nvPr/>
          </p:nvSpPr>
          <p:spPr>
            <a:xfrm rot="5400000">
              <a:off x="5677" y="4552"/>
              <a:ext cx="557" cy="315"/>
            </a:xfrm>
            <a:prstGeom prst="flowChartTerminator">
              <a:avLst/>
            </a:prstGeom>
            <a:solidFill>
              <a:srgbClr val="F19B7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2" name="流程图: 终止 71"/>
            <p:cNvSpPr/>
            <p:nvPr/>
          </p:nvSpPr>
          <p:spPr>
            <a:xfrm rot="5400000">
              <a:off x="5362" y="4552"/>
              <a:ext cx="557" cy="315"/>
            </a:xfrm>
            <a:prstGeom prst="flowChartTerminator">
              <a:avLst/>
            </a:prstGeom>
            <a:solidFill>
              <a:srgbClr val="3F3C4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流程图: 终止 72"/>
            <p:cNvSpPr/>
            <p:nvPr/>
          </p:nvSpPr>
          <p:spPr>
            <a:xfrm rot="5400000">
              <a:off x="5992" y="4552"/>
              <a:ext cx="557" cy="315"/>
            </a:xfrm>
            <a:prstGeom prst="flowChartTerminator">
              <a:avLst/>
            </a:prstGeom>
            <a:solidFill>
              <a:srgbClr val="F19B7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流程图: 终止 73"/>
            <p:cNvSpPr/>
            <p:nvPr/>
          </p:nvSpPr>
          <p:spPr>
            <a:xfrm rot="5400000">
              <a:off x="3787" y="4551"/>
              <a:ext cx="557" cy="315"/>
            </a:xfrm>
            <a:prstGeom prst="flowChartTerminator">
              <a:avLst/>
            </a:prstGeom>
            <a:solidFill>
              <a:srgbClr val="CCA2A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流程图: 终止 74"/>
            <p:cNvSpPr/>
            <p:nvPr/>
          </p:nvSpPr>
          <p:spPr>
            <a:xfrm rot="5400000">
              <a:off x="3472" y="4551"/>
              <a:ext cx="557" cy="315"/>
            </a:xfrm>
            <a:prstGeom prst="flowChartTerminator">
              <a:avLst/>
            </a:prstGeom>
            <a:solidFill>
              <a:srgbClr val="FDE1E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76" name="流程图: 终止 75"/>
            <p:cNvSpPr/>
            <p:nvPr/>
          </p:nvSpPr>
          <p:spPr>
            <a:xfrm rot="5400000">
              <a:off x="4102" y="4551"/>
              <a:ext cx="557" cy="315"/>
            </a:xfrm>
            <a:prstGeom prst="flowChartTerminator">
              <a:avLst/>
            </a:prstGeom>
            <a:solidFill>
              <a:srgbClr val="CCA2A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流程图: 终止 76"/>
            <p:cNvSpPr/>
            <p:nvPr/>
          </p:nvSpPr>
          <p:spPr>
            <a:xfrm rot="5400000">
              <a:off x="5036" y="4551"/>
              <a:ext cx="557" cy="315"/>
            </a:xfrm>
            <a:prstGeom prst="flowChartTerminator">
              <a:avLst/>
            </a:prstGeom>
            <a:solidFill>
              <a:srgbClr val="3F3C4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8" name="流程图: 终止 77"/>
            <p:cNvSpPr/>
            <p:nvPr/>
          </p:nvSpPr>
          <p:spPr>
            <a:xfrm rot="5400000">
              <a:off x="4732" y="4552"/>
              <a:ext cx="557" cy="315"/>
            </a:xfrm>
            <a:prstGeom prst="flowChartTerminator">
              <a:avLst/>
            </a:prstGeom>
            <a:solidFill>
              <a:srgbClr val="5F324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9" name="流程图: 终止 78"/>
            <p:cNvSpPr/>
            <p:nvPr/>
          </p:nvSpPr>
          <p:spPr>
            <a:xfrm rot="5400000">
              <a:off x="4412" y="4551"/>
              <a:ext cx="557" cy="315"/>
            </a:xfrm>
            <a:prstGeom prst="flowChartTerminator">
              <a:avLst/>
            </a:prstGeom>
            <a:solidFill>
              <a:srgbClr val="5F324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84" name="图片 83" descr="星号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50" y="4608"/>
              <a:ext cx="201" cy="201"/>
            </a:xfrm>
            <a:prstGeom prst="rect">
              <a:avLst/>
            </a:prstGeom>
          </p:spPr>
        </p:pic>
      </p:grpSp>
      <p:sp>
        <p:nvSpPr>
          <p:cNvPr id="86" name="圆角矩形 85"/>
          <p:cNvSpPr/>
          <p:nvPr/>
        </p:nvSpPr>
        <p:spPr>
          <a:xfrm>
            <a:off x="4583430" y="2294255"/>
            <a:ext cx="1261110" cy="174625"/>
          </a:xfrm>
          <a:prstGeom prst="roundRect">
            <a:avLst/>
          </a:prstGeom>
          <a:solidFill>
            <a:srgbClr val="F2F2F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</a:rPr>
              <a:t>Transformer Layer</a:t>
            </a:r>
            <a:endParaRPr lang="en-US" altLang="zh-CN" sz="800">
              <a:solidFill>
                <a:schemeClr val="tx1"/>
              </a:solidFill>
            </a:endParaRPr>
          </a:p>
        </p:txBody>
      </p:sp>
      <p:cxnSp>
        <p:nvCxnSpPr>
          <p:cNvPr id="87" name="直接箭头连接符 86"/>
          <p:cNvCxnSpPr>
            <a:stCxn id="86" idx="0"/>
            <a:endCxn id="78" idx="3"/>
          </p:cNvCxnSpPr>
          <p:nvPr/>
        </p:nvCxnSpPr>
        <p:spPr>
          <a:xfrm flipV="1">
            <a:off x="5213985" y="2085975"/>
            <a:ext cx="0" cy="2076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stCxn id="78" idx="1"/>
          </p:cNvCxnSpPr>
          <p:nvPr/>
        </p:nvCxnSpPr>
        <p:spPr>
          <a:xfrm flipV="1">
            <a:off x="5213985" y="1669415"/>
            <a:ext cx="3810" cy="2222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4975225" y="1449070"/>
            <a:ext cx="456565" cy="220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</a:rPr>
              <a:t>BNN</a:t>
            </a:r>
            <a:endParaRPr lang="en-US" altLang="zh-CN" sz="800">
              <a:solidFill>
                <a:schemeClr val="tx1"/>
              </a:solidFill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4959350" y="965200"/>
            <a:ext cx="472440" cy="23876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</a:rPr>
              <a:t>loss</a:t>
            </a:r>
            <a:endParaRPr lang="en-US" altLang="zh-CN" sz="800">
              <a:solidFill>
                <a:schemeClr val="tx1"/>
              </a:solidFill>
            </a:endParaRPr>
          </a:p>
        </p:txBody>
      </p:sp>
      <p:cxnSp>
        <p:nvCxnSpPr>
          <p:cNvPr id="96" name="直接箭头连接符 95"/>
          <p:cNvCxnSpPr>
            <a:stCxn id="90" idx="0"/>
          </p:cNvCxnSpPr>
          <p:nvPr/>
        </p:nvCxnSpPr>
        <p:spPr>
          <a:xfrm flipH="1" flipV="1">
            <a:off x="5200650" y="1203960"/>
            <a:ext cx="3175" cy="245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肘形连接符 96"/>
          <p:cNvCxnSpPr>
            <a:stCxn id="61" idx="0"/>
          </p:cNvCxnSpPr>
          <p:nvPr/>
        </p:nvCxnSpPr>
        <p:spPr>
          <a:xfrm rot="16200000">
            <a:off x="2922905" y="1589405"/>
            <a:ext cx="2500630" cy="2054860"/>
          </a:xfrm>
          <a:prstGeom prst="bentConnector3">
            <a:avLst>
              <a:gd name="adj1" fmla="val 99949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8" name="文本框 97"/>
          <p:cNvSpPr txBox="1"/>
          <p:nvPr/>
        </p:nvSpPr>
        <p:spPr>
          <a:xfrm>
            <a:off x="3158490" y="1142365"/>
            <a:ext cx="1635760" cy="224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/>
              <a:t>feat=BN(global_feat)+color_feat</a:t>
            </a:r>
            <a:endParaRPr lang="en-US" altLang="zh-CN" sz="800"/>
          </a:p>
        </p:txBody>
      </p:sp>
      <p:grpSp>
        <p:nvGrpSpPr>
          <p:cNvPr id="136" name="组合 135"/>
          <p:cNvGrpSpPr/>
          <p:nvPr/>
        </p:nvGrpSpPr>
        <p:grpSpPr>
          <a:xfrm rot="0">
            <a:off x="3604260" y="1857375"/>
            <a:ext cx="1047750" cy="336550"/>
            <a:chOff x="5676" y="2925"/>
            <a:chExt cx="1650" cy="530"/>
          </a:xfrm>
        </p:grpSpPr>
        <p:sp>
          <p:nvSpPr>
            <p:cNvPr id="91" name="文本框 90"/>
            <p:cNvSpPr txBox="1"/>
            <p:nvPr/>
          </p:nvSpPr>
          <p:spPr>
            <a:xfrm>
              <a:off x="5710" y="2925"/>
              <a:ext cx="161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800"/>
                <a:t>Extra learnable [cls] embedding</a:t>
              </a:r>
              <a:endParaRPr lang="en-US" altLang="zh-CN" sz="800"/>
            </a:p>
          </p:txBody>
        </p:sp>
        <p:pic>
          <p:nvPicPr>
            <p:cNvPr id="99" name="图片 98" descr="星号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5676" y="2954"/>
              <a:ext cx="166" cy="166"/>
            </a:xfrm>
            <a:prstGeom prst="rect">
              <a:avLst/>
            </a:prstGeom>
          </p:spPr>
        </p:pic>
      </p:grpSp>
      <p:cxnSp>
        <p:nvCxnSpPr>
          <p:cNvPr id="105" name="直接箭头连接符 104"/>
          <p:cNvCxnSpPr>
            <a:endCxn id="86" idx="2"/>
          </p:cNvCxnSpPr>
          <p:nvPr/>
        </p:nvCxnSpPr>
        <p:spPr>
          <a:xfrm flipH="1" flipV="1">
            <a:off x="5213985" y="2468880"/>
            <a:ext cx="3175" cy="2946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8" name="组合 147"/>
          <p:cNvGrpSpPr/>
          <p:nvPr/>
        </p:nvGrpSpPr>
        <p:grpSpPr>
          <a:xfrm rot="0">
            <a:off x="6336030" y="771525"/>
            <a:ext cx="1797050" cy="576580"/>
            <a:chOff x="9934" y="2925"/>
            <a:chExt cx="2830" cy="908"/>
          </a:xfrm>
        </p:grpSpPr>
        <p:grpSp>
          <p:nvGrpSpPr>
            <p:cNvPr id="140" name="组合 139"/>
            <p:cNvGrpSpPr/>
            <p:nvPr/>
          </p:nvGrpSpPr>
          <p:grpSpPr>
            <a:xfrm>
              <a:off x="10094" y="2925"/>
              <a:ext cx="2670" cy="908"/>
              <a:chOff x="10093" y="2281"/>
              <a:chExt cx="4542" cy="1456"/>
            </a:xfrm>
          </p:grpSpPr>
          <p:sp>
            <p:nvSpPr>
              <p:cNvPr id="103" name="圆角矩形 102"/>
              <p:cNvSpPr/>
              <p:nvPr/>
            </p:nvSpPr>
            <p:spPr>
              <a:xfrm>
                <a:off x="10093" y="3351"/>
                <a:ext cx="4543" cy="387"/>
              </a:xfrm>
              <a:prstGeom prst="roundRect">
                <a:avLst/>
              </a:prstGeom>
              <a:solidFill>
                <a:srgbClr val="F2F2F2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800">
                    <a:solidFill>
                      <a:schemeClr val="tx1"/>
                    </a:solidFill>
                  </a:rPr>
                  <a:t>Transformer Layer</a:t>
                </a:r>
                <a:endParaRPr lang="en-US" altLang="zh-CN" sz="8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21" name="组合 120"/>
              <p:cNvGrpSpPr/>
              <p:nvPr/>
            </p:nvGrpSpPr>
            <p:grpSpPr>
              <a:xfrm>
                <a:off x="13691" y="2282"/>
                <a:ext cx="944" cy="556"/>
                <a:chOff x="12426" y="1940"/>
                <a:chExt cx="944" cy="556"/>
              </a:xfrm>
            </p:grpSpPr>
            <p:sp>
              <p:nvSpPr>
                <p:cNvPr id="109" name="流程图: 终止 108"/>
                <p:cNvSpPr/>
                <p:nvPr/>
              </p:nvSpPr>
              <p:spPr>
                <a:xfrm rot="5400000">
                  <a:off x="12620" y="2061"/>
                  <a:ext cx="557" cy="315"/>
                </a:xfrm>
                <a:prstGeom prst="flowChartTerminator">
                  <a:avLst/>
                </a:prstGeom>
                <a:solidFill>
                  <a:srgbClr val="F19B7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0" name="流程图: 终止 109"/>
                <p:cNvSpPr/>
                <p:nvPr/>
              </p:nvSpPr>
              <p:spPr>
                <a:xfrm rot="5400000">
                  <a:off x="12305" y="2061"/>
                  <a:ext cx="557" cy="315"/>
                </a:xfrm>
                <a:prstGeom prst="flowChartTerminator">
                  <a:avLst/>
                </a:prstGeom>
                <a:solidFill>
                  <a:srgbClr val="3F3C4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1" name="流程图: 终止 110"/>
                <p:cNvSpPr/>
                <p:nvPr/>
              </p:nvSpPr>
              <p:spPr>
                <a:xfrm rot="5400000">
                  <a:off x="12935" y="2061"/>
                  <a:ext cx="557" cy="315"/>
                </a:xfrm>
                <a:prstGeom prst="flowChartTerminator">
                  <a:avLst/>
                </a:prstGeom>
                <a:solidFill>
                  <a:srgbClr val="F19B7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19" name="组合 118"/>
              <p:cNvGrpSpPr/>
              <p:nvPr/>
            </p:nvGrpSpPr>
            <p:grpSpPr>
              <a:xfrm>
                <a:off x="10093" y="2281"/>
                <a:ext cx="944" cy="556"/>
                <a:chOff x="10536" y="1939"/>
                <a:chExt cx="944" cy="556"/>
              </a:xfrm>
            </p:grpSpPr>
            <p:sp>
              <p:nvSpPr>
                <p:cNvPr id="112" name="流程图: 终止 111"/>
                <p:cNvSpPr/>
                <p:nvPr/>
              </p:nvSpPr>
              <p:spPr>
                <a:xfrm rot="5400000">
                  <a:off x="10730" y="2060"/>
                  <a:ext cx="557" cy="315"/>
                </a:xfrm>
                <a:prstGeom prst="flowChartTerminator">
                  <a:avLst/>
                </a:prstGeom>
                <a:solidFill>
                  <a:srgbClr val="CCA2A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3" name="流程图: 终止 112"/>
                <p:cNvSpPr/>
                <p:nvPr/>
              </p:nvSpPr>
              <p:spPr>
                <a:xfrm rot="5400000">
                  <a:off x="10415" y="2060"/>
                  <a:ext cx="557" cy="315"/>
                </a:xfrm>
                <a:prstGeom prst="flowChartTerminator">
                  <a:avLst/>
                </a:prstGeom>
                <a:solidFill>
                  <a:srgbClr val="FDE1E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4" name="流程图: 终止 113"/>
                <p:cNvSpPr/>
                <p:nvPr/>
              </p:nvSpPr>
              <p:spPr>
                <a:xfrm rot="5400000">
                  <a:off x="11045" y="2060"/>
                  <a:ext cx="557" cy="315"/>
                </a:xfrm>
                <a:prstGeom prst="flowChartTerminator">
                  <a:avLst/>
                </a:prstGeom>
                <a:solidFill>
                  <a:srgbClr val="CCA2A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20" name="组合 119"/>
              <p:cNvGrpSpPr/>
              <p:nvPr/>
            </p:nvGrpSpPr>
            <p:grpSpPr>
              <a:xfrm>
                <a:off x="12554" y="2281"/>
                <a:ext cx="938" cy="557"/>
                <a:chOff x="11476" y="1939"/>
                <a:chExt cx="938" cy="557"/>
              </a:xfrm>
            </p:grpSpPr>
            <p:sp>
              <p:nvSpPr>
                <p:cNvPr id="115" name="流程图: 终止 114"/>
                <p:cNvSpPr/>
                <p:nvPr/>
              </p:nvSpPr>
              <p:spPr>
                <a:xfrm rot="5400000">
                  <a:off x="11979" y="2060"/>
                  <a:ext cx="557" cy="315"/>
                </a:xfrm>
                <a:prstGeom prst="flowChartTerminator">
                  <a:avLst/>
                </a:prstGeom>
                <a:solidFill>
                  <a:srgbClr val="3F3C4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7" name="流程图: 终止 116"/>
                <p:cNvSpPr/>
                <p:nvPr/>
              </p:nvSpPr>
              <p:spPr>
                <a:xfrm rot="5400000">
                  <a:off x="11675" y="2061"/>
                  <a:ext cx="557" cy="315"/>
                </a:xfrm>
                <a:prstGeom prst="flowChartTerminator">
                  <a:avLst/>
                </a:prstGeom>
                <a:solidFill>
                  <a:srgbClr val="5F324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8" name="流程图: 终止 117"/>
                <p:cNvSpPr/>
                <p:nvPr/>
              </p:nvSpPr>
              <p:spPr>
                <a:xfrm rot="5400000">
                  <a:off x="11355" y="2060"/>
                  <a:ext cx="557" cy="315"/>
                </a:xfrm>
                <a:prstGeom prst="flowChartTerminator">
                  <a:avLst/>
                </a:prstGeom>
                <a:solidFill>
                  <a:srgbClr val="5F324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30" name="组合 129"/>
              <p:cNvGrpSpPr/>
              <p:nvPr/>
            </p:nvGrpSpPr>
            <p:grpSpPr>
              <a:xfrm>
                <a:off x="11343" y="2282"/>
                <a:ext cx="943" cy="556"/>
                <a:chOff x="11657" y="2563"/>
                <a:chExt cx="943" cy="556"/>
              </a:xfrm>
            </p:grpSpPr>
            <p:sp>
              <p:nvSpPr>
                <p:cNvPr id="123" name="流程图: 终止 122"/>
                <p:cNvSpPr/>
                <p:nvPr/>
              </p:nvSpPr>
              <p:spPr>
                <a:xfrm rot="5400000">
                  <a:off x="12165" y="2684"/>
                  <a:ext cx="557" cy="315"/>
                </a:xfrm>
                <a:prstGeom prst="flowChartTerminator">
                  <a:avLst/>
                </a:prstGeom>
                <a:solidFill>
                  <a:srgbClr val="CCA2A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4" name="流程图: 终止 123"/>
                <p:cNvSpPr/>
                <p:nvPr/>
              </p:nvSpPr>
              <p:spPr>
                <a:xfrm rot="5400000">
                  <a:off x="11536" y="2684"/>
                  <a:ext cx="557" cy="315"/>
                </a:xfrm>
                <a:prstGeom prst="flowChartTerminator">
                  <a:avLst/>
                </a:prstGeom>
                <a:solidFill>
                  <a:srgbClr val="FDE1E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7" name="流程图: 终止 126"/>
                <p:cNvSpPr/>
                <p:nvPr/>
              </p:nvSpPr>
              <p:spPr>
                <a:xfrm rot="5400000">
                  <a:off x="11850" y="2684"/>
                  <a:ext cx="557" cy="315"/>
                </a:xfrm>
                <a:prstGeom prst="flowChartTerminator">
                  <a:avLst/>
                </a:prstGeom>
                <a:solidFill>
                  <a:srgbClr val="F19B7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31" name="直接箭头连接符 130"/>
              <p:cNvCxnSpPr>
                <a:endCxn id="112" idx="3"/>
              </p:cNvCxnSpPr>
              <p:nvPr/>
            </p:nvCxnSpPr>
            <p:spPr>
              <a:xfrm flipV="1">
                <a:off x="10564" y="2838"/>
                <a:ext cx="2" cy="5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2" name="直接箭头连接符 131"/>
              <p:cNvCxnSpPr/>
              <p:nvPr/>
            </p:nvCxnSpPr>
            <p:spPr>
              <a:xfrm flipV="1">
                <a:off x="11804" y="2839"/>
                <a:ext cx="2" cy="5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3" name="直接箭头连接符 132"/>
              <p:cNvCxnSpPr/>
              <p:nvPr/>
            </p:nvCxnSpPr>
            <p:spPr>
              <a:xfrm flipV="1">
                <a:off x="13031" y="2839"/>
                <a:ext cx="2" cy="5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4" name="直接箭头连接符 133"/>
              <p:cNvCxnSpPr/>
              <p:nvPr/>
            </p:nvCxnSpPr>
            <p:spPr>
              <a:xfrm flipV="1">
                <a:off x="14163" y="2834"/>
                <a:ext cx="2" cy="5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135" name="图片 134" descr="星号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flipH="1">
                <a:off x="13766" y="2478"/>
                <a:ext cx="166" cy="166"/>
              </a:xfrm>
              <a:prstGeom prst="rect">
                <a:avLst/>
              </a:prstGeom>
            </p:spPr>
          </p:pic>
          <p:pic>
            <p:nvPicPr>
              <p:cNvPr id="137" name="图片 136" descr="星号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flipH="1">
                <a:off x="12633" y="2463"/>
                <a:ext cx="166" cy="166"/>
              </a:xfrm>
              <a:prstGeom prst="rect">
                <a:avLst/>
              </a:prstGeom>
            </p:spPr>
          </p:pic>
          <p:pic>
            <p:nvPicPr>
              <p:cNvPr id="138" name="图片 137" descr="星号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flipH="1">
                <a:off x="11418" y="2463"/>
                <a:ext cx="166" cy="166"/>
              </a:xfrm>
              <a:prstGeom prst="rect">
                <a:avLst/>
              </a:prstGeom>
            </p:spPr>
          </p:pic>
          <p:pic>
            <p:nvPicPr>
              <p:cNvPr id="139" name="图片 138" descr="星号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flipH="1">
                <a:off x="10168" y="2463"/>
                <a:ext cx="166" cy="166"/>
              </a:xfrm>
              <a:prstGeom prst="rect">
                <a:avLst/>
              </a:prstGeom>
            </p:spPr>
          </p:pic>
        </p:grpSp>
        <p:grpSp>
          <p:nvGrpSpPr>
            <p:cNvPr id="147" name="组合 146"/>
            <p:cNvGrpSpPr/>
            <p:nvPr/>
          </p:nvGrpSpPr>
          <p:grpSpPr>
            <a:xfrm>
              <a:off x="9934" y="3187"/>
              <a:ext cx="2645" cy="306"/>
              <a:chOff x="9934" y="3187"/>
              <a:chExt cx="2645" cy="306"/>
            </a:xfrm>
          </p:grpSpPr>
          <p:sp>
            <p:nvSpPr>
              <p:cNvPr id="143" name="文本框 142"/>
              <p:cNvSpPr txBox="1"/>
              <p:nvPr/>
            </p:nvSpPr>
            <p:spPr>
              <a:xfrm>
                <a:off x="9934" y="3187"/>
                <a:ext cx="439" cy="30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800"/>
                  <a:t>f1</a:t>
                </a:r>
                <a:endParaRPr lang="en-US" altLang="zh-CN" sz="800"/>
              </a:p>
            </p:txBody>
          </p:sp>
          <p:sp>
            <p:nvSpPr>
              <p:cNvPr id="144" name="文本框 143"/>
              <p:cNvSpPr txBox="1"/>
              <p:nvPr/>
            </p:nvSpPr>
            <p:spPr>
              <a:xfrm>
                <a:off x="10487" y="3187"/>
                <a:ext cx="822" cy="30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800"/>
                  <a:t>    f2</a:t>
                </a:r>
                <a:endParaRPr lang="en-US" altLang="zh-CN" sz="800"/>
              </a:p>
            </p:txBody>
          </p:sp>
          <p:sp>
            <p:nvSpPr>
              <p:cNvPr id="145" name="文本框 144"/>
              <p:cNvSpPr txBox="1"/>
              <p:nvPr/>
            </p:nvSpPr>
            <p:spPr>
              <a:xfrm>
                <a:off x="11385" y="3187"/>
                <a:ext cx="708" cy="30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800"/>
                  <a:t>f3</a:t>
                </a:r>
                <a:endParaRPr lang="en-US" altLang="zh-CN" sz="800"/>
              </a:p>
            </p:txBody>
          </p:sp>
          <p:sp>
            <p:nvSpPr>
              <p:cNvPr id="146" name="文本框 145"/>
              <p:cNvSpPr txBox="1"/>
              <p:nvPr/>
            </p:nvSpPr>
            <p:spPr>
              <a:xfrm>
                <a:off x="12037" y="3187"/>
                <a:ext cx="542" cy="30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800"/>
                  <a:t>f4</a:t>
                </a:r>
                <a:endParaRPr lang="en-US" altLang="zh-CN" sz="800"/>
              </a:p>
            </p:txBody>
          </p:sp>
        </p:grpSp>
      </p:grpSp>
      <p:grpSp>
        <p:nvGrpSpPr>
          <p:cNvPr id="183" name="组合 182"/>
          <p:cNvGrpSpPr/>
          <p:nvPr/>
        </p:nvGrpSpPr>
        <p:grpSpPr>
          <a:xfrm rot="0">
            <a:off x="6437630" y="246380"/>
            <a:ext cx="1704975" cy="525780"/>
            <a:chOff x="10138" y="388"/>
            <a:chExt cx="2685" cy="828"/>
          </a:xfrm>
        </p:grpSpPr>
        <p:grpSp>
          <p:nvGrpSpPr>
            <p:cNvPr id="151" name="组合 150"/>
            <p:cNvGrpSpPr/>
            <p:nvPr/>
          </p:nvGrpSpPr>
          <p:grpSpPr>
            <a:xfrm rot="0">
              <a:off x="10138" y="388"/>
              <a:ext cx="570" cy="827"/>
              <a:chOff x="10094" y="2402"/>
              <a:chExt cx="570" cy="827"/>
            </a:xfrm>
          </p:grpSpPr>
          <p:sp>
            <p:nvSpPr>
              <p:cNvPr id="149" name="圆角矩形 148"/>
              <p:cNvSpPr/>
              <p:nvPr/>
            </p:nvSpPr>
            <p:spPr>
              <a:xfrm>
                <a:off x="10094" y="2402"/>
                <a:ext cx="570" cy="217"/>
              </a:xfrm>
              <a:prstGeom prst="round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700">
                    <a:solidFill>
                      <a:schemeClr val="tx1"/>
                    </a:solidFill>
                  </a:rPr>
                  <a:t>loss</a:t>
                </a:r>
                <a:endParaRPr lang="en-US" altLang="zh-CN" sz="7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0" name="直接箭头连接符 149"/>
              <p:cNvCxnSpPr>
                <a:stCxn id="112" idx="1"/>
              </p:cNvCxnSpPr>
              <p:nvPr/>
            </p:nvCxnSpPr>
            <p:spPr>
              <a:xfrm flipH="1" flipV="1">
                <a:off x="10360" y="2629"/>
                <a:ext cx="12" cy="6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52" name="组合 151"/>
            <p:cNvGrpSpPr/>
            <p:nvPr/>
          </p:nvGrpSpPr>
          <p:grpSpPr>
            <a:xfrm rot="0">
              <a:off x="10873" y="398"/>
              <a:ext cx="570" cy="818"/>
              <a:chOff x="10094" y="2402"/>
              <a:chExt cx="570" cy="818"/>
            </a:xfrm>
          </p:grpSpPr>
          <p:sp>
            <p:nvSpPr>
              <p:cNvPr id="153" name="圆角矩形 152"/>
              <p:cNvSpPr/>
              <p:nvPr/>
            </p:nvSpPr>
            <p:spPr>
              <a:xfrm>
                <a:off x="10094" y="2402"/>
                <a:ext cx="570" cy="217"/>
              </a:xfrm>
              <a:prstGeom prst="round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700">
                    <a:solidFill>
                      <a:schemeClr val="tx1"/>
                    </a:solidFill>
                  </a:rPr>
                  <a:t>loss</a:t>
                </a:r>
                <a:endParaRPr lang="en-US" altLang="zh-CN" sz="7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4" name="直接箭头连接符 153"/>
              <p:cNvCxnSpPr>
                <a:stCxn id="127" idx="1"/>
              </p:cNvCxnSpPr>
              <p:nvPr/>
            </p:nvCxnSpPr>
            <p:spPr>
              <a:xfrm flipH="1" flipV="1">
                <a:off x="10366" y="2629"/>
                <a:ext cx="5" cy="59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组合 154"/>
            <p:cNvGrpSpPr/>
            <p:nvPr/>
          </p:nvGrpSpPr>
          <p:grpSpPr>
            <a:xfrm rot="0">
              <a:off x="11582" y="388"/>
              <a:ext cx="570" cy="828"/>
              <a:chOff x="10094" y="2402"/>
              <a:chExt cx="570" cy="828"/>
            </a:xfrm>
          </p:grpSpPr>
          <p:sp>
            <p:nvSpPr>
              <p:cNvPr id="156" name="圆角矩形 155"/>
              <p:cNvSpPr/>
              <p:nvPr/>
            </p:nvSpPr>
            <p:spPr>
              <a:xfrm>
                <a:off x="10094" y="2402"/>
                <a:ext cx="570" cy="217"/>
              </a:xfrm>
              <a:prstGeom prst="round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700">
                    <a:solidFill>
                      <a:schemeClr val="tx1"/>
                    </a:solidFill>
                  </a:rPr>
                  <a:t>loss</a:t>
                </a:r>
                <a:endParaRPr lang="en-US" altLang="zh-CN" sz="7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7" name="直接箭头连接符 156"/>
              <p:cNvCxnSpPr>
                <a:stCxn id="117" idx="1"/>
              </p:cNvCxnSpPr>
              <p:nvPr/>
            </p:nvCxnSpPr>
            <p:spPr>
              <a:xfrm flipH="1" flipV="1">
                <a:off x="10366" y="2629"/>
                <a:ext cx="11" cy="60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组合 157"/>
            <p:cNvGrpSpPr/>
            <p:nvPr/>
          </p:nvGrpSpPr>
          <p:grpSpPr>
            <a:xfrm rot="0">
              <a:off x="12253" y="388"/>
              <a:ext cx="570" cy="828"/>
              <a:chOff x="10094" y="2402"/>
              <a:chExt cx="570" cy="828"/>
            </a:xfrm>
          </p:grpSpPr>
          <p:sp>
            <p:nvSpPr>
              <p:cNvPr id="159" name="圆角矩形 158"/>
              <p:cNvSpPr/>
              <p:nvPr/>
            </p:nvSpPr>
            <p:spPr>
              <a:xfrm>
                <a:off x="10094" y="2402"/>
                <a:ext cx="570" cy="217"/>
              </a:xfrm>
              <a:prstGeom prst="round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700">
                    <a:solidFill>
                      <a:schemeClr val="tx1"/>
                    </a:solidFill>
                  </a:rPr>
                  <a:t>loss</a:t>
                </a:r>
                <a:endParaRPr lang="en-US" altLang="zh-CN" sz="7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0" name="直接箭头连接符 159"/>
              <p:cNvCxnSpPr>
                <a:stCxn id="109" idx="1"/>
              </p:cNvCxnSpPr>
              <p:nvPr/>
            </p:nvCxnSpPr>
            <p:spPr>
              <a:xfrm flipH="1" flipV="1">
                <a:off x="10366" y="2629"/>
                <a:ext cx="6" cy="60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组合 17"/>
          <p:cNvGrpSpPr/>
          <p:nvPr/>
        </p:nvGrpSpPr>
        <p:grpSpPr>
          <a:xfrm>
            <a:off x="5596890" y="384175"/>
            <a:ext cx="486410" cy="1064260"/>
            <a:chOff x="8714" y="605"/>
            <a:chExt cx="766" cy="1676"/>
          </a:xfrm>
        </p:grpSpPr>
        <p:sp>
          <p:nvSpPr>
            <p:cNvPr id="165" name="圆角矩形 164"/>
            <p:cNvSpPr/>
            <p:nvPr/>
          </p:nvSpPr>
          <p:spPr>
            <a:xfrm>
              <a:off x="8714" y="1921"/>
              <a:ext cx="766" cy="361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Gate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grpSp>
          <p:nvGrpSpPr>
            <p:cNvPr id="180" name="组合 179"/>
            <p:cNvGrpSpPr/>
            <p:nvPr/>
          </p:nvGrpSpPr>
          <p:grpSpPr>
            <a:xfrm rot="0">
              <a:off x="8838" y="605"/>
              <a:ext cx="526" cy="611"/>
              <a:chOff x="9671" y="1672"/>
              <a:chExt cx="526" cy="812"/>
            </a:xfrm>
          </p:grpSpPr>
          <p:sp>
            <p:nvSpPr>
              <p:cNvPr id="167" name="矩形 166"/>
              <p:cNvSpPr/>
              <p:nvPr/>
            </p:nvSpPr>
            <p:spPr>
              <a:xfrm>
                <a:off x="9671" y="1874"/>
                <a:ext cx="526" cy="2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800">
                    <a:solidFill>
                      <a:schemeClr val="tx1"/>
                    </a:solidFill>
                  </a:rPr>
                  <a:t>w2</a:t>
                </a:r>
                <a:endParaRPr lang="en-US" altLang="zh-CN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矩形 167"/>
              <p:cNvSpPr/>
              <p:nvPr/>
            </p:nvSpPr>
            <p:spPr>
              <a:xfrm>
                <a:off x="9671" y="2080"/>
                <a:ext cx="526" cy="2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800">
                    <a:solidFill>
                      <a:schemeClr val="tx1"/>
                    </a:solidFill>
                  </a:rPr>
                  <a:t>w3</a:t>
                </a:r>
                <a:endParaRPr lang="en-US" altLang="zh-CN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69" name="矩形 168"/>
              <p:cNvSpPr/>
              <p:nvPr/>
            </p:nvSpPr>
            <p:spPr>
              <a:xfrm>
                <a:off x="9671" y="2282"/>
                <a:ext cx="526" cy="2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800">
                    <a:solidFill>
                      <a:schemeClr val="tx1"/>
                    </a:solidFill>
                  </a:rPr>
                  <a:t>w4</a:t>
                </a:r>
                <a:endParaRPr lang="en-US" altLang="zh-CN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70" name="矩形 169"/>
              <p:cNvSpPr/>
              <p:nvPr/>
            </p:nvSpPr>
            <p:spPr>
              <a:xfrm>
                <a:off x="9671" y="1672"/>
                <a:ext cx="526" cy="2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800">
                    <a:solidFill>
                      <a:schemeClr val="tx1"/>
                    </a:solidFill>
                  </a:rPr>
                  <a:t>w1</a:t>
                </a:r>
                <a:endParaRPr lang="en-US" altLang="zh-CN" sz="80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82" name="直接箭头连接符 181"/>
            <p:cNvCxnSpPr>
              <a:stCxn id="165" idx="0"/>
              <a:endCxn id="169" idx="2"/>
            </p:cNvCxnSpPr>
            <p:nvPr/>
          </p:nvCxnSpPr>
          <p:spPr>
            <a:xfrm flipV="1">
              <a:off x="9097" y="1216"/>
              <a:ext cx="4" cy="70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185" name="肘形连接符 184"/>
          <p:cNvCxnSpPr>
            <a:stCxn id="49" idx="0"/>
            <a:endCxn id="16" idx="2"/>
          </p:cNvCxnSpPr>
          <p:nvPr/>
        </p:nvCxnSpPr>
        <p:spPr>
          <a:xfrm rot="16200000">
            <a:off x="6337935" y="1729740"/>
            <a:ext cx="383540" cy="1512570"/>
          </a:xfrm>
          <a:prstGeom prst="bentConnector3">
            <a:avLst>
              <a:gd name="adj1" fmla="val 31788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stCxn id="16" idx="0"/>
            <a:endCxn id="103" idx="2"/>
          </p:cNvCxnSpPr>
          <p:nvPr/>
        </p:nvCxnSpPr>
        <p:spPr>
          <a:xfrm flipV="1">
            <a:off x="7285990" y="1348105"/>
            <a:ext cx="0" cy="2590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0" name="直接箭头连接符 189"/>
          <p:cNvCxnSpPr/>
          <p:nvPr/>
        </p:nvCxnSpPr>
        <p:spPr>
          <a:xfrm>
            <a:off x="6013450" y="527050"/>
            <a:ext cx="1063625" cy="635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1" name="直接箭头连接符 190"/>
          <p:cNvCxnSpPr>
            <a:stCxn id="168" idx="3"/>
          </p:cNvCxnSpPr>
          <p:nvPr/>
        </p:nvCxnSpPr>
        <p:spPr>
          <a:xfrm>
            <a:off x="6009640" y="627380"/>
            <a:ext cx="1518285" cy="4445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4" name="直接箭头连接符 193"/>
          <p:cNvCxnSpPr>
            <a:stCxn id="169" idx="3"/>
          </p:cNvCxnSpPr>
          <p:nvPr/>
        </p:nvCxnSpPr>
        <p:spPr>
          <a:xfrm flipV="1">
            <a:off x="6009640" y="711200"/>
            <a:ext cx="1946910" cy="12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6" name="直接箭头连接符 195"/>
          <p:cNvCxnSpPr>
            <a:stCxn id="170" idx="3"/>
          </p:cNvCxnSpPr>
          <p:nvPr/>
        </p:nvCxnSpPr>
        <p:spPr>
          <a:xfrm>
            <a:off x="6009640" y="432435"/>
            <a:ext cx="597535" cy="12065"/>
          </a:xfrm>
          <a:prstGeom prst="straightConnector1">
            <a:avLst/>
          </a:prstGeom>
          <a:ln>
            <a:solidFill>
              <a:schemeClr val="accent5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4976495" y="2729865"/>
            <a:ext cx="1799590" cy="353695"/>
            <a:chOff x="1461" y="2954"/>
            <a:chExt cx="2834" cy="557"/>
          </a:xfrm>
        </p:grpSpPr>
        <p:sp>
          <p:nvSpPr>
            <p:cNvPr id="4" name="流程图: 终止 3"/>
            <p:cNvSpPr/>
            <p:nvPr/>
          </p:nvSpPr>
          <p:spPr>
            <a:xfrm rot="5400000">
              <a:off x="3545" y="3076"/>
              <a:ext cx="557" cy="315"/>
            </a:xfrm>
            <a:prstGeom prst="flowChartTerminator">
              <a:avLst/>
            </a:prstGeom>
            <a:solidFill>
              <a:srgbClr val="ECA37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流程图: 终止 4"/>
            <p:cNvSpPr/>
            <p:nvPr/>
          </p:nvSpPr>
          <p:spPr>
            <a:xfrm rot="5400000">
              <a:off x="3230" y="3076"/>
              <a:ext cx="557" cy="315"/>
            </a:xfrm>
            <a:prstGeom prst="flowChartTerminator">
              <a:avLst/>
            </a:prstGeom>
            <a:solidFill>
              <a:srgbClr val="60638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流程图: 终止 5"/>
            <p:cNvSpPr/>
            <p:nvPr/>
          </p:nvSpPr>
          <p:spPr>
            <a:xfrm rot="5400000">
              <a:off x="3860" y="3076"/>
              <a:ext cx="557" cy="315"/>
            </a:xfrm>
            <a:prstGeom prst="flowChartTerminator">
              <a:avLst/>
            </a:prstGeom>
            <a:solidFill>
              <a:srgbClr val="F4AA7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流程图: 终止 6"/>
            <p:cNvSpPr/>
            <p:nvPr/>
          </p:nvSpPr>
          <p:spPr>
            <a:xfrm rot="5400000">
              <a:off x="1655" y="3075"/>
              <a:ext cx="557" cy="315"/>
            </a:xfrm>
            <a:prstGeom prst="flowChartTerminator">
              <a:avLst/>
            </a:prstGeom>
            <a:solidFill>
              <a:srgbClr val="E2C1C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流程图: 终止 7"/>
            <p:cNvSpPr/>
            <p:nvPr/>
          </p:nvSpPr>
          <p:spPr>
            <a:xfrm rot="5400000">
              <a:off x="1340" y="3075"/>
              <a:ext cx="557" cy="315"/>
            </a:xfrm>
            <a:prstGeom prst="flowChartTerminator">
              <a:avLst/>
            </a:prstGeom>
            <a:solidFill>
              <a:srgbClr val="F3E2E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流程图: 终止 8"/>
            <p:cNvSpPr/>
            <p:nvPr/>
          </p:nvSpPr>
          <p:spPr>
            <a:xfrm rot="5400000">
              <a:off x="1970" y="3075"/>
              <a:ext cx="557" cy="315"/>
            </a:xfrm>
            <a:prstGeom prst="flowChartTerminator">
              <a:avLst/>
            </a:prstGeom>
            <a:solidFill>
              <a:srgbClr val="CCA4A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流程图: 终止 9"/>
            <p:cNvSpPr/>
            <p:nvPr/>
          </p:nvSpPr>
          <p:spPr>
            <a:xfrm rot="5400000">
              <a:off x="2904" y="3075"/>
              <a:ext cx="557" cy="315"/>
            </a:xfrm>
            <a:prstGeom prst="flowChartTerminator">
              <a:avLst/>
            </a:prstGeom>
            <a:solidFill>
              <a:srgbClr val="4D4C6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流程图: 终止 10"/>
            <p:cNvSpPr/>
            <p:nvPr/>
          </p:nvSpPr>
          <p:spPr>
            <a:xfrm rot="5400000">
              <a:off x="2600" y="3076"/>
              <a:ext cx="557" cy="315"/>
            </a:xfrm>
            <a:prstGeom prst="flowChartTerminator">
              <a:avLst/>
            </a:prstGeom>
            <a:solidFill>
              <a:srgbClr val="623A5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流程图: 终止 11"/>
            <p:cNvSpPr/>
            <p:nvPr/>
          </p:nvSpPr>
          <p:spPr>
            <a:xfrm rot="5400000">
              <a:off x="2280" y="3075"/>
              <a:ext cx="557" cy="315"/>
            </a:xfrm>
            <a:prstGeom prst="flowChartTerminator">
              <a:avLst/>
            </a:prstGeom>
            <a:solidFill>
              <a:srgbClr val="783D5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" name="肘形连接符 13"/>
          <p:cNvCxnSpPr>
            <a:endCxn id="23" idx="0"/>
          </p:cNvCxnSpPr>
          <p:nvPr/>
        </p:nvCxnSpPr>
        <p:spPr>
          <a:xfrm rot="10800000">
            <a:off x="6707505" y="4108450"/>
            <a:ext cx="546735" cy="488315"/>
          </a:xfrm>
          <a:prstGeom prst="bentConnector3">
            <a:avLst>
              <a:gd name="adj1" fmla="val 49942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2533650" y="461645"/>
            <a:ext cx="684530" cy="18986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218180" y="461645"/>
            <a:ext cx="182435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Modified Modules</a:t>
            </a:r>
            <a:endParaRPr lang="en-US" altLang="zh-CN" sz="800"/>
          </a:p>
        </p:txBody>
      </p:sp>
      <p:cxnSp>
        <p:nvCxnSpPr>
          <p:cNvPr id="32" name="直接箭头连接符 31"/>
          <p:cNvCxnSpPr>
            <a:endCxn id="165" idx="1"/>
          </p:cNvCxnSpPr>
          <p:nvPr/>
        </p:nvCxnSpPr>
        <p:spPr>
          <a:xfrm flipV="1">
            <a:off x="5203190" y="1334770"/>
            <a:ext cx="3937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1679575" y="-1351915"/>
            <a:ext cx="4839970" cy="1207770"/>
            <a:chOff x="7085" y="1657"/>
            <a:chExt cx="7622" cy="1902"/>
          </a:xfrm>
        </p:grpSpPr>
        <p:sp>
          <p:nvSpPr>
            <p:cNvPr id="19" name="流程图: 终止 18"/>
            <p:cNvSpPr/>
            <p:nvPr/>
          </p:nvSpPr>
          <p:spPr>
            <a:xfrm rot="5400000">
              <a:off x="12487" y="2186"/>
              <a:ext cx="1900" cy="847"/>
            </a:xfrm>
            <a:prstGeom prst="flowChartTerminator">
              <a:avLst/>
            </a:prstGeom>
            <a:solidFill>
              <a:srgbClr val="F19B7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流程图: 终止 19"/>
            <p:cNvSpPr/>
            <p:nvPr/>
          </p:nvSpPr>
          <p:spPr>
            <a:xfrm rot="5400000">
              <a:off x="11640" y="2186"/>
              <a:ext cx="1900" cy="847"/>
            </a:xfrm>
            <a:prstGeom prst="flowChartTerminator">
              <a:avLst/>
            </a:prstGeom>
            <a:solidFill>
              <a:srgbClr val="3F3C4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流程图: 终止 20"/>
            <p:cNvSpPr/>
            <p:nvPr/>
          </p:nvSpPr>
          <p:spPr>
            <a:xfrm rot="5400000">
              <a:off x="13335" y="2186"/>
              <a:ext cx="1899" cy="847"/>
            </a:xfrm>
            <a:prstGeom prst="flowChartTerminator">
              <a:avLst/>
            </a:prstGeom>
            <a:solidFill>
              <a:srgbClr val="F19B7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流程图: 终止 22"/>
            <p:cNvSpPr/>
            <p:nvPr/>
          </p:nvSpPr>
          <p:spPr>
            <a:xfrm rot="5400000">
              <a:off x="7405" y="2184"/>
              <a:ext cx="1900" cy="847"/>
            </a:xfrm>
            <a:prstGeom prst="flowChartTerminator">
              <a:avLst/>
            </a:prstGeom>
            <a:solidFill>
              <a:srgbClr val="CCA2A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流程图: 终止 23"/>
            <p:cNvSpPr/>
            <p:nvPr/>
          </p:nvSpPr>
          <p:spPr>
            <a:xfrm rot="5400000">
              <a:off x="6558" y="2184"/>
              <a:ext cx="1900" cy="847"/>
            </a:xfrm>
            <a:prstGeom prst="flowChartTerminator">
              <a:avLst/>
            </a:prstGeom>
            <a:solidFill>
              <a:srgbClr val="FDE1E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流程图: 终止 24"/>
            <p:cNvSpPr/>
            <p:nvPr/>
          </p:nvSpPr>
          <p:spPr>
            <a:xfrm rot="5400000">
              <a:off x="8253" y="2184"/>
              <a:ext cx="1899" cy="847"/>
            </a:xfrm>
            <a:prstGeom prst="flowChartTerminator">
              <a:avLst/>
            </a:prstGeom>
            <a:solidFill>
              <a:srgbClr val="CCA2A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流程图: 终止 25"/>
            <p:cNvSpPr/>
            <p:nvPr/>
          </p:nvSpPr>
          <p:spPr>
            <a:xfrm rot="5400000">
              <a:off x="10765" y="2184"/>
              <a:ext cx="1900" cy="847"/>
            </a:xfrm>
            <a:prstGeom prst="flowChartTerminator">
              <a:avLst/>
            </a:prstGeom>
            <a:solidFill>
              <a:srgbClr val="3F3C4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流程图: 终止 26"/>
            <p:cNvSpPr/>
            <p:nvPr/>
          </p:nvSpPr>
          <p:spPr>
            <a:xfrm rot="5400000">
              <a:off x="9946" y="2186"/>
              <a:ext cx="1900" cy="847"/>
            </a:xfrm>
            <a:prstGeom prst="flowChartTerminator">
              <a:avLst/>
            </a:prstGeom>
            <a:solidFill>
              <a:srgbClr val="5F324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流程图: 终止 27"/>
            <p:cNvSpPr/>
            <p:nvPr/>
          </p:nvSpPr>
          <p:spPr>
            <a:xfrm rot="5400000">
              <a:off x="9086" y="2184"/>
              <a:ext cx="1899" cy="847"/>
            </a:xfrm>
            <a:prstGeom prst="flowChartTerminator">
              <a:avLst/>
            </a:prstGeom>
            <a:solidFill>
              <a:srgbClr val="5F324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2" name="矩形 41"/>
          <p:cNvSpPr/>
          <p:nvPr/>
        </p:nvSpPr>
        <p:spPr>
          <a:xfrm>
            <a:off x="1894840" y="2088515"/>
            <a:ext cx="610870" cy="61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79" name="组合 78"/>
          <p:cNvGrpSpPr/>
          <p:nvPr/>
        </p:nvGrpSpPr>
        <p:grpSpPr>
          <a:xfrm>
            <a:off x="8159750" y="-1829435"/>
            <a:ext cx="1833880" cy="1838960"/>
            <a:chOff x="10660" y="3322"/>
            <a:chExt cx="2888" cy="2896"/>
          </a:xfrm>
        </p:grpSpPr>
        <p:sp>
          <p:nvSpPr>
            <p:cNvPr id="61" name="矩形 60"/>
            <p:cNvSpPr/>
            <p:nvPr/>
          </p:nvSpPr>
          <p:spPr>
            <a:xfrm rot="10800000">
              <a:off x="10660" y="3332"/>
              <a:ext cx="962" cy="963"/>
            </a:xfrm>
            <a:prstGeom prst="rect">
              <a:avLst/>
            </a:prstGeom>
            <a:solidFill>
              <a:srgbClr val="3F3C4F"/>
            </a:solidFill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2" name="矩形 61"/>
            <p:cNvSpPr/>
            <p:nvPr/>
          </p:nvSpPr>
          <p:spPr>
            <a:xfrm rot="10800000">
              <a:off x="10660" y="4294"/>
              <a:ext cx="962" cy="963"/>
            </a:xfrm>
            <a:prstGeom prst="rect">
              <a:avLst/>
            </a:prstGeom>
            <a:solidFill>
              <a:srgbClr val="F19B75"/>
            </a:solidFill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3" name="矩形 62"/>
            <p:cNvSpPr/>
            <p:nvPr/>
          </p:nvSpPr>
          <p:spPr>
            <a:xfrm rot="10800000">
              <a:off x="10660" y="5256"/>
              <a:ext cx="962" cy="963"/>
            </a:xfrm>
            <a:prstGeom prst="rect">
              <a:avLst/>
            </a:prstGeom>
            <a:solidFill>
              <a:srgbClr val="F19B75"/>
            </a:solidFill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4" name="矩形 63"/>
            <p:cNvSpPr/>
            <p:nvPr/>
          </p:nvSpPr>
          <p:spPr>
            <a:xfrm rot="10800000">
              <a:off x="12586" y="3322"/>
              <a:ext cx="962" cy="963"/>
            </a:xfrm>
            <a:prstGeom prst="rect">
              <a:avLst/>
            </a:prstGeom>
            <a:solidFill>
              <a:srgbClr val="FDE1E1"/>
            </a:solidFill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 rot="10800000">
              <a:off x="12586" y="4284"/>
              <a:ext cx="962" cy="963"/>
            </a:xfrm>
            <a:prstGeom prst="rect">
              <a:avLst/>
            </a:prstGeom>
            <a:solidFill>
              <a:srgbClr val="CCA2A4"/>
            </a:solidFill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6" name="矩形 65"/>
            <p:cNvSpPr/>
            <p:nvPr/>
          </p:nvSpPr>
          <p:spPr>
            <a:xfrm rot="10800000">
              <a:off x="12586" y="5246"/>
              <a:ext cx="962" cy="963"/>
            </a:xfrm>
            <a:prstGeom prst="rect">
              <a:avLst/>
            </a:prstGeom>
            <a:solidFill>
              <a:srgbClr val="CCA2A4"/>
            </a:solidFill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7" name="矩形 66"/>
            <p:cNvSpPr/>
            <p:nvPr/>
          </p:nvSpPr>
          <p:spPr>
            <a:xfrm rot="10800000">
              <a:off x="11623" y="3332"/>
              <a:ext cx="962" cy="963"/>
            </a:xfrm>
            <a:prstGeom prst="rect">
              <a:avLst/>
            </a:prstGeom>
            <a:solidFill>
              <a:srgbClr val="5F3246"/>
            </a:solidFill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8" name="矩形 67"/>
            <p:cNvSpPr/>
            <p:nvPr/>
          </p:nvSpPr>
          <p:spPr>
            <a:xfrm rot="10800000">
              <a:off x="11623" y="4294"/>
              <a:ext cx="962" cy="963"/>
            </a:xfrm>
            <a:prstGeom prst="rect">
              <a:avLst/>
            </a:prstGeom>
            <a:solidFill>
              <a:srgbClr val="5F3246"/>
            </a:solidFill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 rot="10800000">
              <a:off x="11623" y="5256"/>
              <a:ext cx="962" cy="963"/>
            </a:xfrm>
            <a:prstGeom prst="rect">
              <a:avLst/>
            </a:prstGeom>
            <a:solidFill>
              <a:srgbClr val="3F3C4F"/>
            </a:solidFill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2" name="矩形 31"/>
          <p:cNvSpPr/>
          <p:nvPr/>
        </p:nvSpPr>
        <p:spPr>
          <a:xfrm>
            <a:off x="5257165" y="3960495"/>
            <a:ext cx="610870" cy="61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4035425" y="3961130"/>
            <a:ext cx="610870" cy="61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4642485" y="3955415"/>
            <a:ext cx="610870" cy="61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9" name="组合 58"/>
          <p:cNvGrpSpPr/>
          <p:nvPr/>
        </p:nvGrpSpPr>
        <p:grpSpPr>
          <a:xfrm rot="0">
            <a:off x="4025265" y="2112010"/>
            <a:ext cx="1838960" cy="1833880"/>
            <a:chOff x="6339" y="3326"/>
            <a:chExt cx="2896" cy="2888"/>
          </a:xfrm>
        </p:grpSpPr>
        <p:sp>
          <p:nvSpPr>
            <p:cNvPr id="46" name="矩形 45"/>
            <p:cNvSpPr/>
            <p:nvPr/>
          </p:nvSpPr>
          <p:spPr>
            <a:xfrm>
              <a:off x="6349" y="5252"/>
              <a:ext cx="962" cy="963"/>
            </a:xfrm>
            <a:prstGeom prst="rect">
              <a:avLst/>
            </a:prstGeom>
            <a:solidFill>
              <a:srgbClr val="3F3C4F"/>
            </a:solidFill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7311" y="5252"/>
              <a:ext cx="962" cy="963"/>
            </a:xfrm>
            <a:prstGeom prst="rect">
              <a:avLst/>
            </a:prstGeom>
            <a:solidFill>
              <a:srgbClr val="F19B75"/>
            </a:solidFill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8273" y="5252"/>
              <a:ext cx="962" cy="963"/>
            </a:xfrm>
            <a:prstGeom prst="rect">
              <a:avLst/>
            </a:prstGeom>
            <a:solidFill>
              <a:srgbClr val="F19B75"/>
            </a:solidFill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6339" y="3326"/>
              <a:ext cx="962" cy="963"/>
            </a:xfrm>
            <a:prstGeom prst="rect">
              <a:avLst/>
            </a:prstGeom>
            <a:solidFill>
              <a:srgbClr val="FDE1E1"/>
            </a:solidFill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7301" y="3326"/>
              <a:ext cx="962" cy="963"/>
            </a:xfrm>
            <a:prstGeom prst="rect">
              <a:avLst/>
            </a:prstGeom>
            <a:solidFill>
              <a:srgbClr val="CCA2A4"/>
            </a:solidFill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8263" y="3326"/>
              <a:ext cx="962" cy="963"/>
            </a:xfrm>
            <a:prstGeom prst="rect">
              <a:avLst/>
            </a:prstGeom>
            <a:solidFill>
              <a:srgbClr val="CCA2A4"/>
            </a:solidFill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6349" y="4289"/>
              <a:ext cx="962" cy="963"/>
            </a:xfrm>
            <a:prstGeom prst="rect">
              <a:avLst/>
            </a:prstGeom>
            <a:solidFill>
              <a:srgbClr val="5F3246"/>
            </a:solidFill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7311" y="4289"/>
              <a:ext cx="962" cy="963"/>
            </a:xfrm>
            <a:prstGeom prst="rect">
              <a:avLst/>
            </a:prstGeom>
            <a:solidFill>
              <a:srgbClr val="5F3246"/>
            </a:solidFill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8273" y="4289"/>
              <a:ext cx="962" cy="963"/>
            </a:xfrm>
            <a:prstGeom prst="rect">
              <a:avLst/>
            </a:prstGeom>
            <a:solidFill>
              <a:srgbClr val="3F3C4F"/>
            </a:solidFill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3" name="矩形 72"/>
          <p:cNvSpPr/>
          <p:nvPr/>
        </p:nvSpPr>
        <p:spPr>
          <a:xfrm>
            <a:off x="5253355" y="1492250"/>
            <a:ext cx="610870" cy="61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4016375" y="1497965"/>
            <a:ext cx="610870" cy="61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4634865" y="1491615"/>
            <a:ext cx="610870" cy="61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3405505" y="3961130"/>
            <a:ext cx="610870" cy="61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3408045" y="2115185"/>
            <a:ext cx="610870" cy="61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3405505" y="1497965"/>
            <a:ext cx="610870" cy="61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>
            <a:off x="3405505" y="2729230"/>
            <a:ext cx="610870" cy="61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矩形 77"/>
          <p:cNvSpPr/>
          <p:nvPr/>
        </p:nvSpPr>
        <p:spPr>
          <a:xfrm>
            <a:off x="3405505" y="3335020"/>
            <a:ext cx="610870" cy="61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矩形 81"/>
          <p:cNvSpPr/>
          <p:nvPr/>
        </p:nvSpPr>
        <p:spPr>
          <a:xfrm>
            <a:off x="5857875" y="3966845"/>
            <a:ext cx="610870" cy="61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>
            <a:off x="5857875" y="2115185"/>
            <a:ext cx="610870" cy="61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5857875" y="1492250"/>
            <a:ext cx="610870" cy="61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5857875" y="2723515"/>
            <a:ext cx="610870" cy="61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5857875" y="3340735"/>
            <a:ext cx="610870" cy="61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6" name="图片 115" descr="206f2950-eea1-4053-b849-4073d4276a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1280" y="1682115"/>
            <a:ext cx="3056890" cy="30568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5" name="图片 64" descr="image-202604191852097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" y="450215"/>
            <a:ext cx="7084695" cy="30175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50059176,50001551],&quot;65&quot;:[20205081]}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50059176,50001551],&quot;65&quot;:[20205081]}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resource_record_key" val="{&quot;10&quot;:[50059176,50001551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</Words>
  <Application>WPS 演示</Application>
  <PresentationFormat>宽屏</PresentationFormat>
  <Paragraphs>48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赵英杰</cp:lastModifiedBy>
  <cp:revision>162</cp:revision>
  <dcterms:created xsi:type="dcterms:W3CDTF">2019-06-19T02:08:00Z</dcterms:created>
  <dcterms:modified xsi:type="dcterms:W3CDTF">2026-04-20T07:27:07Z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AD0D3CAF699A46A4AF65A09D1CB46924_11</vt:lpwstr>
  </property>
</Properties>
</file>